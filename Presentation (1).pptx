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60"/>
  </p:normalViewPr>
  <p:slideViewPr>
    <p:cSldViewPr snapToGrid="0">
      <p:cViewPr>
        <p:scale>
          <a:sx n="78" d="100"/>
          <a:sy n="78" d="100"/>
        </p:scale>
        <p:origin x="4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svg" /><Relationship Id="rId1" Type="http://schemas.openxmlformats.org/officeDocument/2006/relationships/image" Target="../media/image3.png" /><Relationship Id="rId4" Type="http://schemas.openxmlformats.org/officeDocument/2006/relationships/image" Target="../media/image6.svg" 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svg" /><Relationship Id="rId1" Type="http://schemas.openxmlformats.org/officeDocument/2006/relationships/image" Target="../media/image3.png" /><Relationship Id="rId4" Type="http://schemas.openxmlformats.org/officeDocument/2006/relationships/image" Target="../media/image6.sv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9C58E1-D4A1-4A13-9EF7-F6D6144FCF7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78DBE6-4E75-4DDE-995D-04F9F61C910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Need to  write  lot of code for making simple webpage.</a:t>
          </a:r>
          <a:endParaRPr lang="en-US"/>
        </a:p>
      </dgm:t>
    </dgm:pt>
    <dgm:pt modelId="{AACAFB43-CA6E-403A-A77D-7E37C09ED29E}" type="parTrans" cxnId="{E5F504EA-B467-48D0-B7E9-4DA31D3846CB}">
      <dgm:prSet/>
      <dgm:spPr/>
      <dgm:t>
        <a:bodyPr/>
        <a:lstStyle/>
        <a:p>
          <a:endParaRPr lang="en-US"/>
        </a:p>
      </dgm:t>
    </dgm:pt>
    <dgm:pt modelId="{4CB989CD-86E6-4731-A319-93261A4CBAA0}" type="sibTrans" cxnId="{E5F504EA-B467-48D0-B7E9-4DA31D3846CB}">
      <dgm:prSet/>
      <dgm:spPr/>
      <dgm:t>
        <a:bodyPr/>
        <a:lstStyle/>
        <a:p>
          <a:endParaRPr lang="en-US"/>
        </a:p>
      </dgm:t>
    </dgm:pt>
    <dgm:pt modelId="{64AA3BCE-1A6C-468D-9AB6-BD92F03CBD3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Security features are not good in HTML.</a:t>
          </a:r>
          <a:endParaRPr lang="en-US"/>
        </a:p>
      </dgm:t>
    </dgm:pt>
    <dgm:pt modelId="{B8F8B931-940B-41A2-9714-A8E836C14751}" type="parTrans" cxnId="{C5915522-F0C1-43E2-BBCE-E320CD66E827}">
      <dgm:prSet/>
      <dgm:spPr/>
      <dgm:t>
        <a:bodyPr/>
        <a:lstStyle/>
        <a:p>
          <a:endParaRPr lang="en-US"/>
        </a:p>
      </dgm:t>
    </dgm:pt>
    <dgm:pt modelId="{AA2F5B29-BD92-4020-9EB7-726FD214EA36}" type="sibTrans" cxnId="{C5915522-F0C1-43E2-BBCE-E320CD66E827}">
      <dgm:prSet/>
      <dgm:spPr/>
      <dgm:t>
        <a:bodyPr/>
        <a:lstStyle/>
        <a:p>
          <a:endParaRPr lang="en-US"/>
        </a:p>
      </dgm:t>
    </dgm:pt>
    <dgm:pt modelId="{1178C9A0-53E8-43BD-B31B-8727B8286C8B}" type="pres">
      <dgm:prSet presAssocID="{3B9C58E1-D4A1-4A13-9EF7-F6D6144FCF7A}" presName="root" presStyleCnt="0">
        <dgm:presLayoutVars>
          <dgm:dir/>
          <dgm:resizeHandles val="exact"/>
        </dgm:presLayoutVars>
      </dgm:prSet>
      <dgm:spPr/>
    </dgm:pt>
    <dgm:pt modelId="{CA883D80-6968-4108-AE12-CBC178E10518}" type="pres">
      <dgm:prSet presAssocID="{D478DBE6-4E75-4DDE-995D-04F9F61C9101}" presName="compNode" presStyleCnt="0"/>
      <dgm:spPr/>
    </dgm:pt>
    <dgm:pt modelId="{DAC6942D-780B-4DA7-B6AA-8F62589C34E5}" type="pres">
      <dgm:prSet presAssocID="{D478DBE6-4E75-4DDE-995D-04F9F61C9101}" presName="bgRect" presStyleLbl="bgShp" presStyleIdx="0" presStyleCnt="2"/>
      <dgm:spPr/>
    </dgm:pt>
    <dgm:pt modelId="{748184B7-077D-4AE4-9B38-10BF2A949921}" type="pres">
      <dgm:prSet presAssocID="{D478DBE6-4E75-4DDE-995D-04F9F61C91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CD06129-0420-405E-9500-D82C59C99CBB}" type="pres">
      <dgm:prSet presAssocID="{D478DBE6-4E75-4DDE-995D-04F9F61C9101}" presName="spaceRect" presStyleCnt="0"/>
      <dgm:spPr/>
    </dgm:pt>
    <dgm:pt modelId="{3824F7E6-3633-46EF-90FF-6FD0B8A18226}" type="pres">
      <dgm:prSet presAssocID="{D478DBE6-4E75-4DDE-995D-04F9F61C9101}" presName="parTx" presStyleLbl="revTx" presStyleIdx="0" presStyleCnt="2">
        <dgm:presLayoutVars>
          <dgm:chMax val="0"/>
          <dgm:chPref val="0"/>
        </dgm:presLayoutVars>
      </dgm:prSet>
      <dgm:spPr/>
    </dgm:pt>
    <dgm:pt modelId="{BC4292E4-784D-456B-BAF2-22603FA53D33}" type="pres">
      <dgm:prSet presAssocID="{4CB989CD-86E6-4731-A319-93261A4CBAA0}" presName="sibTrans" presStyleCnt="0"/>
      <dgm:spPr/>
    </dgm:pt>
    <dgm:pt modelId="{20A7C25F-E364-47B3-B06A-EFEE3E9408AE}" type="pres">
      <dgm:prSet presAssocID="{64AA3BCE-1A6C-468D-9AB6-BD92F03CBD3F}" presName="compNode" presStyleCnt="0"/>
      <dgm:spPr/>
    </dgm:pt>
    <dgm:pt modelId="{FCA581E6-9CF0-4B55-86F8-3BF80876EA97}" type="pres">
      <dgm:prSet presAssocID="{64AA3BCE-1A6C-468D-9AB6-BD92F03CBD3F}" presName="bgRect" presStyleLbl="bgShp" presStyleIdx="1" presStyleCnt="2"/>
      <dgm:spPr/>
    </dgm:pt>
    <dgm:pt modelId="{EB0E5823-38B5-4E9F-A3BB-0ABDF34BCCA6}" type="pres">
      <dgm:prSet presAssocID="{64AA3BCE-1A6C-468D-9AB6-BD92F03CBD3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5F91BB2B-D0B1-4012-8D1A-23B682317BE4}" type="pres">
      <dgm:prSet presAssocID="{64AA3BCE-1A6C-468D-9AB6-BD92F03CBD3F}" presName="spaceRect" presStyleCnt="0"/>
      <dgm:spPr/>
    </dgm:pt>
    <dgm:pt modelId="{6A745AB6-6BA4-46EF-B454-4F26E96C7066}" type="pres">
      <dgm:prSet presAssocID="{64AA3BCE-1A6C-468D-9AB6-BD92F03CBD3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5915522-F0C1-43E2-BBCE-E320CD66E827}" srcId="{3B9C58E1-D4A1-4A13-9EF7-F6D6144FCF7A}" destId="{64AA3BCE-1A6C-468D-9AB6-BD92F03CBD3F}" srcOrd="1" destOrd="0" parTransId="{B8F8B931-940B-41A2-9714-A8E836C14751}" sibTransId="{AA2F5B29-BD92-4020-9EB7-726FD214EA36}"/>
    <dgm:cxn modelId="{8CD6F055-649F-4D43-B1CA-B0C4765B75A3}" type="presOf" srcId="{64AA3BCE-1A6C-468D-9AB6-BD92F03CBD3F}" destId="{6A745AB6-6BA4-46EF-B454-4F26E96C7066}" srcOrd="0" destOrd="0" presId="urn:microsoft.com/office/officeart/2018/2/layout/IconVerticalSolidList"/>
    <dgm:cxn modelId="{A60C437E-A67F-4529-95A4-16E3F8F06436}" type="presOf" srcId="{D478DBE6-4E75-4DDE-995D-04F9F61C9101}" destId="{3824F7E6-3633-46EF-90FF-6FD0B8A18226}" srcOrd="0" destOrd="0" presId="urn:microsoft.com/office/officeart/2018/2/layout/IconVerticalSolidList"/>
    <dgm:cxn modelId="{BDC3D99B-7686-447D-93AE-C65CAC2ED152}" type="presOf" srcId="{3B9C58E1-D4A1-4A13-9EF7-F6D6144FCF7A}" destId="{1178C9A0-53E8-43BD-B31B-8727B8286C8B}" srcOrd="0" destOrd="0" presId="urn:microsoft.com/office/officeart/2018/2/layout/IconVerticalSolidList"/>
    <dgm:cxn modelId="{E5F504EA-B467-48D0-B7E9-4DA31D3846CB}" srcId="{3B9C58E1-D4A1-4A13-9EF7-F6D6144FCF7A}" destId="{D478DBE6-4E75-4DDE-995D-04F9F61C9101}" srcOrd="0" destOrd="0" parTransId="{AACAFB43-CA6E-403A-A77D-7E37C09ED29E}" sibTransId="{4CB989CD-86E6-4731-A319-93261A4CBAA0}"/>
    <dgm:cxn modelId="{0461B5DA-A1BF-4DD2-B5A1-38FC00DF57F5}" type="presParOf" srcId="{1178C9A0-53E8-43BD-B31B-8727B8286C8B}" destId="{CA883D80-6968-4108-AE12-CBC178E10518}" srcOrd="0" destOrd="0" presId="urn:microsoft.com/office/officeart/2018/2/layout/IconVerticalSolidList"/>
    <dgm:cxn modelId="{863D983C-5503-49C8-9755-19FCECB5A597}" type="presParOf" srcId="{CA883D80-6968-4108-AE12-CBC178E10518}" destId="{DAC6942D-780B-4DA7-B6AA-8F62589C34E5}" srcOrd="0" destOrd="0" presId="urn:microsoft.com/office/officeart/2018/2/layout/IconVerticalSolidList"/>
    <dgm:cxn modelId="{F202AC17-4085-4E9B-9121-AEC62DD733CF}" type="presParOf" srcId="{CA883D80-6968-4108-AE12-CBC178E10518}" destId="{748184B7-077D-4AE4-9B38-10BF2A949921}" srcOrd="1" destOrd="0" presId="urn:microsoft.com/office/officeart/2018/2/layout/IconVerticalSolidList"/>
    <dgm:cxn modelId="{AB940C0F-C375-4156-873F-71830F3DFD34}" type="presParOf" srcId="{CA883D80-6968-4108-AE12-CBC178E10518}" destId="{DCD06129-0420-405E-9500-D82C59C99CBB}" srcOrd="2" destOrd="0" presId="urn:microsoft.com/office/officeart/2018/2/layout/IconVerticalSolidList"/>
    <dgm:cxn modelId="{FA4E7CBD-2D5D-45B0-8CB2-8CAB71A94790}" type="presParOf" srcId="{CA883D80-6968-4108-AE12-CBC178E10518}" destId="{3824F7E6-3633-46EF-90FF-6FD0B8A18226}" srcOrd="3" destOrd="0" presId="urn:microsoft.com/office/officeart/2018/2/layout/IconVerticalSolidList"/>
    <dgm:cxn modelId="{679F79E9-8319-4ED0-B89D-7E939CA195AB}" type="presParOf" srcId="{1178C9A0-53E8-43BD-B31B-8727B8286C8B}" destId="{BC4292E4-784D-456B-BAF2-22603FA53D33}" srcOrd="1" destOrd="0" presId="urn:microsoft.com/office/officeart/2018/2/layout/IconVerticalSolidList"/>
    <dgm:cxn modelId="{3A5FA3EA-3BDD-4DEF-BBE6-70F0EFD90072}" type="presParOf" srcId="{1178C9A0-53E8-43BD-B31B-8727B8286C8B}" destId="{20A7C25F-E364-47B3-B06A-EFEE3E9408AE}" srcOrd="2" destOrd="0" presId="urn:microsoft.com/office/officeart/2018/2/layout/IconVerticalSolidList"/>
    <dgm:cxn modelId="{20450312-50A2-4260-8366-DA10634CD3FB}" type="presParOf" srcId="{20A7C25F-E364-47B3-B06A-EFEE3E9408AE}" destId="{FCA581E6-9CF0-4B55-86F8-3BF80876EA97}" srcOrd="0" destOrd="0" presId="urn:microsoft.com/office/officeart/2018/2/layout/IconVerticalSolidList"/>
    <dgm:cxn modelId="{944D215E-902B-4AEF-96FB-386191C1F464}" type="presParOf" srcId="{20A7C25F-E364-47B3-B06A-EFEE3E9408AE}" destId="{EB0E5823-38B5-4E9F-A3BB-0ABDF34BCCA6}" srcOrd="1" destOrd="0" presId="urn:microsoft.com/office/officeart/2018/2/layout/IconVerticalSolidList"/>
    <dgm:cxn modelId="{B8E64A90-C85A-4768-A6F3-5B427B28160B}" type="presParOf" srcId="{20A7C25F-E364-47B3-B06A-EFEE3E9408AE}" destId="{5F91BB2B-D0B1-4012-8D1A-23B682317BE4}" srcOrd="2" destOrd="0" presId="urn:microsoft.com/office/officeart/2018/2/layout/IconVerticalSolidList"/>
    <dgm:cxn modelId="{390D9DD7-3AC7-4DC9-9AD1-5387685321B6}" type="presParOf" srcId="{20A7C25F-E364-47B3-B06A-EFEE3E9408AE}" destId="{6A745AB6-6BA4-46EF-B454-4F26E96C70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6942D-780B-4DA7-B6AA-8F62589C34E5}">
      <dsp:nvSpPr>
        <dsp:cNvPr id="0" name=""/>
        <dsp:cNvSpPr/>
      </dsp:nvSpPr>
      <dsp:spPr>
        <a:xfrm>
          <a:off x="0" y="613863"/>
          <a:ext cx="8915400" cy="11332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184B7-077D-4AE4-9B38-10BF2A949921}">
      <dsp:nvSpPr>
        <dsp:cNvPr id="0" name=""/>
        <dsp:cNvSpPr/>
      </dsp:nvSpPr>
      <dsp:spPr>
        <a:xfrm>
          <a:off x="342819" y="868853"/>
          <a:ext cx="623307" cy="6233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4F7E6-3633-46EF-90FF-6FD0B8A18226}">
      <dsp:nvSpPr>
        <dsp:cNvPr id="0" name=""/>
        <dsp:cNvSpPr/>
      </dsp:nvSpPr>
      <dsp:spPr>
        <a:xfrm>
          <a:off x="1308946" y="613863"/>
          <a:ext cx="7606453" cy="113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9" tIns="119939" rIns="119939" bIns="11993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Need to  write  lot of code for making simple webpage.</a:t>
          </a:r>
          <a:endParaRPr lang="en-US" sz="2500" kern="1200"/>
        </a:p>
      </dsp:txBody>
      <dsp:txXfrm>
        <a:off x="1308946" y="613863"/>
        <a:ext cx="7606453" cy="1133286"/>
      </dsp:txXfrm>
    </dsp:sp>
    <dsp:sp modelId="{FCA581E6-9CF0-4B55-86F8-3BF80876EA97}">
      <dsp:nvSpPr>
        <dsp:cNvPr id="0" name=""/>
        <dsp:cNvSpPr/>
      </dsp:nvSpPr>
      <dsp:spPr>
        <a:xfrm>
          <a:off x="0" y="2030471"/>
          <a:ext cx="8915400" cy="11332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0E5823-38B5-4E9F-A3BB-0ABDF34BCCA6}">
      <dsp:nvSpPr>
        <dsp:cNvPr id="0" name=""/>
        <dsp:cNvSpPr/>
      </dsp:nvSpPr>
      <dsp:spPr>
        <a:xfrm>
          <a:off x="342819" y="2285461"/>
          <a:ext cx="623307" cy="6233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45AB6-6BA4-46EF-B454-4F26E96C7066}">
      <dsp:nvSpPr>
        <dsp:cNvPr id="0" name=""/>
        <dsp:cNvSpPr/>
      </dsp:nvSpPr>
      <dsp:spPr>
        <a:xfrm>
          <a:off x="1308946" y="2030471"/>
          <a:ext cx="7606453" cy="1133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39" tIns="119939" rIns="119939" bIns="11993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Security features are not good in HTML.</a:t>
          </a:r>
          <a:endParaRPr lang="en-US" sz="2500" kern="1200"/>
        </a:p>
      </dsp:txBody>
      <dsp:txXfrm>
        <a:off x="1308946" y="2030471"/>
        <a:ext cx="7606453" cy="11332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5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30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32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58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215" y="1318590"/>
            <a:ext cx="5102159" cy="42208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2032" y="804334"/>
            <a:ext cx="3675634" cy="5249332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ARUNKUMAR</a:t>
            </a:r>
          </a:p>
          <a:p>
            <a:r>
              <a:rPr lang="en-US">
                <a:solidFill>
                  <a:schemeClr val="tx1"/>
                </a:solidFill>
              </a:rPr>
              <a:t>E220027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7EC01-4F77-AAE2-80EC-3CC8A11DC674}"/>
              </a:ext>
            </a:extLst>
          </p:cNvPr>
          <p:cNvSpPr txBox="1"/>
          <p:nvPr/>
        </p:nvSpPr>
        <p:spPr>
          <a:xfrm>
            <a:off x="5185263" y="252009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C375207-C76A-9FF3-3CEC-EE35F14EF5C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676713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330022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21836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780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9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675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62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7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8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9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0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1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3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4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5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6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7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8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41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2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3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4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5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6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7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8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9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0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1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2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6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58" name="Rectangle 157">
            <a:extLst>
              <a:ext uri="{FF2B5EF4-FFF2-40B4-BE49-F238E27FC236}">
                <a16:creationId xmlns:a16="http://schemas.microsoft.com/office/drawing/2014/main" id="{35879851-1A1D-4246-AAA1-C484E8583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1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82" descr="Computer script on a screen">
            <a:extLst>
              <a:ext uri="{FF2B5EF4-FFF2-40B4-BE49-F238E27FC236}">
                <a16:creationId xmlns:a16="http://schemas.microsoft.com/office/drawing/2014/main" id="{A1DECCA7-B7F1-E856-CC3A-4A3468E44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7017" b="8713"/>
          <a:stretch/>
        </p:blipFill>
        <p:spPr>
          <a:xfrm>
            <a:off x="-8825" y="-561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D725B2-F31F-B166-BABB-0FC4E068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CE49-74BF-EC76-B674-8BE9135D1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89212" y="2133600"/>
            <a:ext cx="8915400" cy="37776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03D4EF"/>
              </a:buClr>
            </a:pPr>
            <a:r>
              <a:rPr lang="en-US"/>
              <a:t>What is HTML</a:t>
            </a:r>
          </a:p>
          <a:p>
            <a:pPr>
              <a:buClr>
                <a:srgbClr val="03D4EF"/>
              </a:buClr>
            </a:pPr>
            <a:r>
              <a:rPr lang="en-US"/>
              <a:t>Versions of HTML</a:t>
            </a:r>
          </a:p>
          <a:p>
            <a:pPr>
              <a:buClr>
                <a:srgbClr val="03D4EF"/>
              </a:buClr>
            </a:pPr>
            <a:r>
              <a:rPr lang="en-US"/>
              <a:t>How Does HTML works</a:t>
            </a:r>
          </a:p>
          <a:p>
            <a:pPr>
              <a:buClr>
                <a:srgbClr val="03D4EF"/>
              </a:buClr>
            </a:pPr>
            <a:r>
              <a:rPr lang="en-US"/>
              <a:t>Difference between HTML4 &amp; 5</a:t>
            </a:r>
          </a:p>
          <a:p>
            <a:pPr>
              <a:buClr>
                <a:srgbClr val="03D4EF"/>
              </a:buClr>
            </a:pPr>
            <a:r>
              <a:rPr lang="en-US"/>
              <a:t>The Most Used HTML Tags</a:t>
            </a:r>
          </a:p>
          <a:p>
            <a:pPr>
              <a:buClr>
                <a:srgbClr val="03D4EF"/>
              </a:buClr>
            </a:pPr>
            <a:r>
              <a:rPr lang="en-US"/>
              <a:t>Advantages</a:t>
            </a:r>
          </a:p>
          <a:p>
            <a:pPr>
              <a:buClr>
                <a:srgbClr val="03D4EF"/>
              </a:buClr>
            </a:pPr>
            <a:r>
              <a:rPr lang="en-US"/>
              <a:t>Disadvantages</a:t>
            </a:r>
          </a:p>
          <a:p>
            <a:pPr>
              <a:buClr>
                <a:srgbClr val="03D4EF"/>
              </a:buClr>
            </a:pPr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49296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3400-AE15-E016-4CBA-194E7871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1DE5-590F-B4A8-9944-879C7F979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is defined as HYPER TEXT MARKUP LANGUAGE.</a:t>
            </a:r>
          </a:p>
          <a:p>
            <a:r>
              <a:rPr lang="en-US" dirty="0"/>
              <a:t>HTML is not a programming language. It is markup language.</a:t>
            </a:r>
          </a:p>
          <a:p>
            <a:r>
              <a:rPr lang="en-US" dirty="0"/>
              <a:t>Markup language means the language which contains only tags.</a:t>
            </a:r>
          </a:p>
          <a:p>
            <a:r>
              <a:rPr lang="en-US" dirty="0"/>
              <a:t>Tags are nothing but angle brackets&lt;&gt;.</a:t>
            </a:r>
          </a:p>
          <a:p>
            <a:r>
              <a:rPr lang="en-IN" dirty="0"/>
              <a:t>It is a very easy and simple language. It can be easily understood and modified.</a:t>
            </a:r>
          </a:p>
          <a:p>
            <a:r>
              <a:rPr lang="en-IN" dirty="0"/>
              <a:t>It is very easy to make effective webpage.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50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48FA-D018-1C17-D835-A6B8DB63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FE953-28A2-31AB-8362-C024AB442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 Berners-Lee, is a physicist at the CERN research institute in Switzerland invented HTML in 1991.</a:t>
            </a:r>
          </a:p>
          <a:p>
            <a:r>
              <a:rPr lang="en-IN" dirty="0"/>
              <a:t>This first version consisted of 18 HTML Tages.</a:t>
            </a:r>
          </a:p>
          <a:p>
            <a:r>
              <a:rPr lang="en-IN" dirty="0"/>
              <a:t>Now they are currently about 140 HTML </a:t>
            </a:r>
            <a:r>
              <a:rPr lang="en-IN" dirty="0" err="1"/>
              <a:t>tages</a:t>
            </a:r>
            <a:r>
              <a:rPr lang="en-IN" dirty="0"/>
              <a:t>, although not all of them are supported by modern browsers.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167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CCADD-257B-4122-BD3E-3F97C724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VERSIONS OF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D2E07-174C-7520-7C63-8ED62C50C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1991  Tim Berners-Lee invents HTML 1.0</a:t>
            </a:r>
          </a:p>
          <a:p>
            <a:r>
              <a:rPr lang="en-IN" dirty="0"/>
              <a:t>In 1993 HTML 1.0 is released not  many developers are creating websites at this time .</a:t>
            </a:r>
          </a:p>
          <a:p>
            <a:r>
              <a:rPr lang="en-IN" dirty="0"/>
              <a:t>In 1995 HTML 2.0 published .</a:t>
            </a:r>
          </a:p>
          <a:p>
            <a:r>
              <a:rPr lang="en-IN" dirty="0"/>
              <a:t>In 1997 HTML 3.0 was invented.</a:t>
            </a:r>
          </a:p>
          <a:p>
            <a:r>
              <a:rPr lang="en-IN" dirty="0"/>
              <a:t>In 1999 the widely used HTML 4.0 comes out.</a:t>
            </a:r>
          </a:p>
          <a:p>
            <a:r>
              <a:rPr lang="en-IN" dirty="0"/>
              <a:t>In 2004 HTML 5.0 is released and used world wide.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15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A814-B38E-E5B6-A3A6-8D193F02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HTML WORKS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4CDE-D52B-0B30-650E-AF3970819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HTML documents are files that end with a .html or .</a:t>
            </a:r>
            <a:r>
              <a:rPr lang="en-IN" dirty="0" err="1"/>
              <a:t>htm</a:t>
            </a:r>
            <a:r>
              <a:rPr lang="en-IN" dirty="0"/>
              <a:t> extension. You can view then using any web browser (such as chrome, google,&amp; etc…)</a:t>
            </a:r>
          </a:p>
          <a:p>
            <a:r>
              <a:rPr lang="en-IN" dirty="0"/>
              <a:t>The browser reads the HTML file and give it’s </a:t>
            </a:r>
            <a:r>
              <a:rPr lang="en-IN" dirty="0" err="1"/>
              <a:t>contant</a:t>
            </a:r>
            <a:r>
              <a:rPr lang="en-IN" dirty="0"/>
              <a:t> so that internet users can view it.</a:t>
            </a:r>
          </a:p>
          <a:p>
            <a:r>
              <a:rPr lang="en-IN" dirty="0"/>
              <a:t>HTML is used to design web pages and websites.</a:t>
            </a:r>
          </a:p>
        </p:txBody>
      </p:sp>
    </p:spTree>
    <p:extLst>
      <p:ext uri="{BB962C8B-B14F-4D97-AF65-F5344CB8AC3E}">
        <p14:creationId xmlns:p14="http://schemas.microsoft.com/office/powerpoint/2010/main" val="381832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D69E-E42D-325B-C678-9A66DFA5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B/N HTML  4 &amp; 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EF0A1-DA68-AB74-7890-8DE4E0EDA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HTML5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8CB41-59B5-871B-5F78-78651AE18A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HTML5 uses new structures such as drag, drop &amp; much more.</a:t>
            </a:r>
          </a:p>
          <a:p>
            <a:r>
              <a:rPr lang="en-IN" dirty="0"/>
              <a:t>HTML5 can contains embedded video and audio without using flash player.</a:t>
            </a:r>
          </a:p>
          <a:p>
            <a:r>
              <a:rPr lang="en-IN" dirty="0"/>
              <a:t>HTML5 is capable of handling inaccurate syntax.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A1BB40-B7B2-C321-104C-2C845C343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HTML4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02368-1142-55F8-B097-4A41A2734C3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HTML4 uses common structures like headers, footers.</a:t>
            </a:r>
          </a:p>
          <a:p>
            <a:r>
              <a:rPr lang="en-IN" dirty="0"/>
              <a:t>HTML4 cannot embed video or audio directly and makes use of flash player  for it.</a:t>
            </a:r>
          </a:p>
          <a:p>
            <a:r>
              <a:rPr lang="en-IN" dirty="0"/>
              <a:t>HTML4 cannot handle inaccurate syntax.</a:t>
            </a:r>
          </a:p>
        </p:txBody>
      </p:sp>
    </p:spTree>
    <p:extLst>
      <p:ext uri="{BB962C8B-B14F-4D97-AF65-F5344CB8AC3E}">
        <p14:creationId xmlns:p14="http://schemas.microsoft.com/office/powerpoint/2010/main" val="1617119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9A7E-F0CF-8EDC-F940-F8F92BD7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MOST USED HTML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E86A1-8849-157F-C474-3A07200BD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HTML  tags have two main types: </a:t>
            </a:r>
          </a:p>
          <a:p>
            <a:r>
              <a:rPr lang="en-IN" dirty="0"/>
              <a:t>1. Block level </a:t>
            </a:r>
          </a:p>
          <a:p>
            <a:r>
              <a:rPr lang="en-IN" dirty="0"/>
              <a:t>2. Inline tags </a:t>
            </a:r>
          </a:p>
          <a:p>
            <a:r>
              <a:rPr lang="en-IN" dirty="0"/>
              <a:t>1. BLOCK LEVEL ELEMENTS take up the full available space and always start a new line in the document. Headings and paragraph are the great example of Block tags.</a:t>
            </a:r>
          </a:p>
          <a:p>
            <a:r>
              <a:rPr lang="en-IN" dirty="0"/>
              <a:t>2. INLINE ELIMENTS only take up as much space as they need and don’t start a new line on the page. They usually serve  to format the inner contents of Block level elements. Links are the good example of Inline tags.</a:t>
            </a:r>
          </a:p>
        </p:txBody>
      </p:sp>
    </p:spTree>
    <p:extLst>
      <p:ext uri="{BB962C8B-B14F-4D97-AF65-F5344CB8AC3E}">
        <p14:creationId xmlns:p14="http://schemas.microsoft.com/office/powerpoint/2010/main" val="950173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39EE869B-085D-43B3-AED8-9B065561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E744A-A072-47AF-981A-3718617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8229600" cy="6858000"/>
          </a:xfrm>
          <a:prstGeom prst="rect">
            <a:avLst/>
          </a:prstGeom>
          <a:solidFill>
            <a:schemeClr val="tx2">
              <a:lumMod val="1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4" name="Picture 4" descr="Person watching empty phone">
            <a:extLst>
              <a:ext uri="{FF2B5EF4-FFF2-40B4-BE49-F238E27FC236}">
                <a16:creationId xmlns:a16="http://schemas.microsoft.com/office/drawing/2014/main" id="{D790D3A2-0AF2-95AF-C7A0-86034ABB74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296" r="15137" b="-1"/>
          <a:stretch/>
        </p:blipFill>
        <p:spPr>
          <a:xfrm>
            <a:off x="8229598" y="10"/>
            <a:ext cx="3962401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F0254341-1068-4FB7-8AEF-220C6EB41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545C7-5D8A-8643-723C-7365D35B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77859-8C1F-AF56-D057-C7CB24B8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6" y="2032000"/>
            <a:ext cx="7145867" cy="3879222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EFFFF"/>
                </a:solidFill>
              </a:rPr>
              <a:t>It is a very easy and simple language. It can be easily understood and modified.</a:t>
            </a:r>
          </a:p>
          <a:p>
            <a:r>
              <a:rPr lang="en-IN">
                <a:solidFill>
                  <a:srgbClr val="FEFFFF"/>
                </a:solidFill>
              </a:rPr>
              <a:t>It is very easy to  make effective web page.</a:t>
            </a:r>
          </a:p>
          <a:p>
            <a:r>
              <a:rPr lang="en-IN">
                <a:solidFill>
                  <a:srgbClr val="FEFFFF"/>
                </a:solidFill>
              </a:rPr>
              <a:t>By using HTML we can add graphics, videos, sounds etc.. To the web page.</a:t>
            </a:r>
          </a:p>
          <a:p>
            <a:r>
              <a:rPr lang="en-IN">
                <a:solidFill>
                  <a:srgbClr val="FEFFFF"/>
                </a:solidFill>
              </a:rPr>
              <a:t>Add llinks on the web page.</a:t>
            </a:r>
          </a:p>
          <a:p>
            <a:r>
              <a:rPr lang="en-IN">
                <a:solidFill>
                  <a:srgbClr val="FEFFFF"/>
                </a:solidFill>
              </a:rPr>
              <a:t>It is not case sensitive.</a:t>
            </a:r>
          </a:p>
          <a:p>
            <a:endParaRPr lang="en-IN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944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6CC2-C53C-A556-177D-454FFF0D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DISADVANTAGES</a:t>
            </a:r>
            <a:endParaRPr lang="en-IN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8B6585A-AF36-E49F-031B-7B8634974D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30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34E4-A6B0-D9B8-5037-6E92393E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832" y="2074606"/>
            <a:ext cx="6922780" cy="1354394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pic>
        <p:nvPicPr>
          <p:cNvPr id="5" name="Content Placeholder 4" descr="Woman with hands together">
            <a:extLst>
              <a:ext uri="{FF2B5EF4-FFF2-40B4-BE49-F238E27FC236}">
                <a16:creationId xmlns:a16="http://schemas.microsoft.com/office/drawing/2014/main" id="{7DC0D1C6-53C5-22AD-F3E6-2485FAF52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5149" y="2592022"/>
            <a:ext cx="3361550" cy="3110688"/>
          </a:xfrm>
        </p:spPr>
      </p:pic>
    </p:spTree>
    <p:extLst>
      <p:ext uri="{BB962C8B-B14F-4D97-AF65-F5344CB8AC3E}">
        <p14:creationId xmlns:p14="http://schemas.microsoft.com/office/powerpoint/2010/main" val="18412881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tf00001235_wac</Template>
  <TotalTime>83</TotalTime>
  <Words>521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Wisp</vt:lpstr>
      <vt:lpstr>HTML</vt:lpstr>
      <vt:lpstr>CONTENTS </vt:lpstr>
      <vt:lpstr>WHAT IS HTML</vt:lpstr>
      <vt:lpstr>HISTORY OF HTML</vt:lpstr>
      <vt:lpstr>VERSIONS OF HTML</vt:lpstr>
      <vt:lpstr>HOW DOES HTML WORKS  </vt:lpstr>
      <vt:lpstr>DIFFERENCE B/N HTML  4 &amp; 5</vt:lpstr>
      <vt:lpstr>THE MOST USED HTML TAGS</vt:lpstr>
      <vt:lpstr>ADVANTAGES</vt:lpstr>
      <vt:lpstr>DISADVANTAGES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Bandi</dc:creator>
  <cp:lastModifiedBy>Karthik Bandi</cp:lastModifiedBy>
  <cp:revision>3</cp:revision>
  <dcterms:created xsi:type="dcterms:W3CDTF">2023-08-06T17:17:10Z</dcterms:created>
  <dcterms:modified xsi:type="dcterms:W3CDTF">2023-08-07T02:06:12Z</dcterms:modified>
</cp:coreProperties>
</file>